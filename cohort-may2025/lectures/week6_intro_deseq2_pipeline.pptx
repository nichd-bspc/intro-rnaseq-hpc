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498" r:id="rId2"/>
    <p:sldId id="500" r:id="rId3"/>
    <p:sldId id="495" r:id="rId4"/>
    <p:sldId id="496" r:id="rId5"/>
    <p:sldId id="497" r:id="rId6"/>
    <p:sldId id="501" r:id="rId7"/>
    <p:sldId id="502" r:id="rId8"/>
    <p:sldId id="503" r:id="rId9"/>
    <p:sldId id="452" r:id="rId10"/>
    <p:sldId id="455" r:id="rId11"/>
    <p:sldId id="486" r:id="rId12"/>
    <p:sldId id="456" r:id="rId13"/>
    <p:sldId id="458" r:id="rId14"/>
    <p:sldId id="504" r:id="rId15"/>
    <p:sldId id="505" r:id="rId16"/>
    <p:sldId id="506" r:id="rId17"/>
    <p:sldId id="507" r:id="rId18"/>
    <p:sldId id="508" r:id="rId19"/>
    <p:sldId id="509" r:id="rId20"/>
    <p:sldId id="286" r:id="rId21"/>
    <p:sldId id="470" r:id="rId22"/>
    <p:sldId id="494" r:id="rId23"/>
    <p:sldId id="469" r:id="rId24"/>
    <p:sldId id="471" r:id="rId25"/>
    <p:sldId id="475" r:id="rId26"/>
    <p:sldId id="472" r:id="rId27"/>
    <p:sldId id="478" r:id="rId28"/>
    <p:sldId id="476" r:id="rId29"/>
    <p:sldId id="479" r:id="rId30"/>
    <p:sldId id="474" r:id="rId31"/>
    <p:sldId id="46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13"/>
  </p:normalViewPr>
  <p:slideViewPr>
    <p:cSldViewPr snapToGrid="0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473BC-2F95-B54B-87B5-FBCA75927BE5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27B93-173D-A341-A60E-AF84529E2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MR1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The authors are investigating interactions between various genes involved in Fragile X syndrome, a disease in which there is aberrant production of the FMRP protein.</a:t>
            </a:r>
          </a:p>
          <a:p>
            <a:r>
              <a:rPr lang="en-US" b="1" dirty="0">
                <a:effectLst/>
              </a:rPr>
              <a:t>FMRP</a:t>
            </a:r>
            <a:r>
              <a:rPr lang="en-US" dirty="0">
                <a:effectLst/>
              </a:rPr>
              <a:t> is “most commonly found in the brain, is essential for normal cognitive development and female reproductive function. Mutations of this gene can lead to fragile X syndrome, mental retardation, premature ovarian failure, autism, Parkinson’s disease, developmental delays and other cognitive deficits.” - from </a:t>
            </a:r>
            <a:r>
              <a:rPr lang="en-US" u="none" strike="noStrike" dirty="0">
                <a:solidFill>
                  <a:srgbClr val="1E6BB8"/>
                </a:solidFill>
                <a:effectLst/>
                <a:hlinkClick r:id="rId3"/>
              </a:rPr>
              <a:t>wikipedia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MOV10</a:t>
            </a:r>
            <a:r>
              <a:rPr lang="en-US" dirty="0">
                <a:effectLst/>
              </a:rPr>
              <a:t>, is a putative RNA helicase that is also associated with </a:t>
            </a:r>
            <a:r>
              <a:rPr lang="en-US" b="1" dirty="0">
                <a:effectLst/>
              </a:rPr>
              <a:t>FMRP</a:t>
            </a:r>
            <a:r>
              <a:rPr lang="en-US" dirty="0">
                <a:effectLst/>
              </a:rPr>
              <a:t> in the context of the microRNA pathway.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27B93-173D-A341-A60E-AF84529E2F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71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0E7B-C305-1C4B-9AB4-9CB2CD92BC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41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94CC-A756-2FDF-6E60-3DD663B88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6EECF-48C9-9201-F753-1FC220183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326F-9DA4-8045-C8E6-B02EEC1B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F72D5-D512-0414-E27B-29651812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9565E-8763-7FED-4E9C-3487777C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1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5281-49F9-C31E-C881-3DE2F23F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06DB-74C0-EABB-9C17-C6AADDC5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5C452-6F81-976D-B7BF-59F7F302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C815C-AB70-EDCA-6E89-963D67B8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D0D8-245A-D0D3-0929-794E24ED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3102-BFD7-C309-E60F-F51B0745F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A2A61-BE5E-D013-44BA-7A331EE6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6149-A6E2-226D-4500-25189AEA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1D029-D551-6785-C889-3789C4DE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B2C0-AFD9-F046-3A68-F6C93E63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6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3711-6213-9B32-ACD1-519E67DC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B5A4-0CCE-ADBA-BF20-C25A3002E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C7E97-836D-41A1-5A90-EC87F071D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ED242-30AA-B0F3-ED19-CFB5D96D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33A4E-337F-8FBD-D2B2-9C953BCB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38182-287E-967A-74EE-335D21BA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9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0527-4771-3E3D-223F-9408DFA9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744A4-903C-51B9-1E1F-79D0A82AA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E5EE3-5936-9631-67BF-FDB3D6D64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E6E54-4561-5B77-B31C-B46FA3517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2F524-3C71-DC30-CEEA-6439CB422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50ABA-9D58-ECDA-0C4C-9E723F93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F05DE-D67E-0E3C-BDE7-E4660E83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ABB5B-8BA4-D859-1A54-392D5CB1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2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DD7E-1A93-EEAE-724A-2572F4D3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D694B-CC4F-923D-55D6-AB5010B5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EA1B4-435E-EC63-F2CE-5A07E42A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03F0A-5DF5-A831-7781-91CD871D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4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73DB-26F5-7A23-688C-DE987A40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FBBFC-2323-CD70-C66D-F96205BB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901FB-AF68-8598-84AE-2E0BC8C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5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4E12-4A73-F14D-DFFB-F04B80FD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BFC4A-1DD2-B178-3A1F-6BE8807AF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CCE29-C9AB-35CC-1818-01AF911F0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D9E0B-8C3A-0A50-B111-BCDF0EE4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B70C9-D2FE-2DBF-CE35-86723BEC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3F110-D9B1-A9CD-2F9E-79302E3A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2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B047-46B3-B3C8-1A71-AE4008F8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DD890-4857-0DEC-D861-E1F9FF7B4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54B49-27B7-2B20-ECCC-4B44B9FC3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8AFAF-D7C2-86EA-E1F6-DC19C7D8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CB376-0582-57C4-791E-C89A2BFC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F305E-9391-EB29-D91C-548C2BF3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0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D9DB-0D60-FEEF-C2D5-125FBA98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70DC9-608D-2261-033E-9A1364EBA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282D-1424-E51B-9C44-7C6F4EA0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7349-3148-1C92-5C18-9B4E283B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2B4B3-B9ED-44E9-D6BD-F6FCC9CE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1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354C9-17B2-AF45-933B-23F13E819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A420C-D748-5C96-AAE3-4829DDBE8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A2A6-1A08-57BA-1E89-5BC6286F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BEBB-B730-8443-0D9F-54B0DE1C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2C25-0459-F6B6-0B5B-92186265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E9C96-A73D-D0D5-300B-3747E6DD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928D3-9738-8434-FA6E-4016D2D21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4D67-E839-1563-4F14-5ECAD3174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98074-95DC-0945-A0DD-1A460AC38651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E5048-1663-832B-2909-41DB826F9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B1C48-5BAD-DA20-7BF9-5E4D57B28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AD4EB-6DEF-6244-B4DC-E9B280488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5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cbi.nlm.nih.gov/pubmed/2546484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bctraining.github.io/DGE_workshop_salmon/lessons/02_DGE_count_normalization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bctraining.github.io/DGE_workshop_salmon/lessons/02_DGE_count_normalization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hbctraining.github.io/DGE_workshop_salmon/lessons/02_DGE_count_normalization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hbctraining.github.io/DGE_workshop_salmon/lessons/02_DGE_count_normalization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bctraining.github.io/DGE_workshop_salmon/lessons/03_DGE_QC_analysi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_UVHneBUBW0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UVHneBUBW0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A5D3-D8B9-1EDE-4C4C-B89C51341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359818-FB41-9CC8-AFF6-13F5DF8EE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NICHD </a:t>
            </a:r>
            <a:r>
              <a:rPr lang="en-US" dirty="0" err="1"/>
              <a:t>RNAseq</a:t>
            </a:r>
            <a:r>
              <a:rPr lang="en-US" dirty="0"/>
              <a:t> Course, Spring 2025</a:t>
            </a:r>
          </a:p>
          <a:p>
            <a:r>
              <a:rPr lang="en-US"/>
              <a:t>March 4</a:t>
            </a:r>
            <a:r>
              <a:rPr lang="en-US" baseline="30000"/>
              <a:t>th</a:t>
            </a:r>
            <a:r>
              <a:rPr lang="en-US"/>
              <a:t>, </a:t>
            </a:r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736673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Table&#10;&#10;AI-generated content may be incorrect.">
            <a:extLst>
              <a:ext uri="{FF2B5EF4-FFF2-40B4-BE49-F238E27FC236}">
                <a16:creationId xmlns:a16="http://schemas.microsoft.com/office/drawing/2014/main" id="{C3DE601B-A6C1-B8F3-0651-828C4174F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44" y="164518"/>
            <a:ext cx="3892277" cy="26345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5FBF25F-55E5-1180-2C29-1C911044F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445" y="2470672"/>
            <a:ext cx="9779690" cy="382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146F1A-DB06-BBD6-33E8-DCA3522BA6CF}"/>
              </a:ext>
            </a:extLst>
          </p:cNvPr>
          <p:cNvSpPr txBox="1"/>
          <p:nvPr/>
        </p:nvSpPr>
        <p:spPr>
          <a:xfrm>
            <a:off x="7164593" y="270928"/>
            <a:ext cx="2512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We are here!</a:t>
            </a:r>
          </a:p>
        </p:txBody>
      </p:sp>
    </p:spTree>
    <p:extLst>
      <p:ext uri="{BB962C8B-B14F-4D97-AF65-F5344CB8AC3E}">
        <p14:creationId xmlns:p14="http://schemas.microsoft.com/office/powerpoint/2010/main" val="675208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30AA1B-53C8-D434-1C0D-93CE73172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196" y="324678"/>
            <a:ext cx="6041929" cy="620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02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EAD3-55AA-BD85-E258-ECD5AEA3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02044" cy="2007014"/>
          </a:xfrm>
        </p:spPr>
        <p:txBody>
          <a:bodyPr>
            <a:normAutofit/>
          </a:bodyPr>
          <a:lstStyle/>
          <a:p>
            <a:r>
              <a:rPr lang="en-US" dirty="0"/>
              <a:t>What is our example dataset testing?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FB055B-1A2E-0CD8-96C2-535635C20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244" y="584200"/>
            <a:ext cx="5689600" cy="568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CAD3FB-8978-77C3-BE6A-6EE1DF802A8E}"/>
              </a:ext>
            </a:extLst>
          </p:cNvPr>
          <p:cNvSpPr txBox="1"/>
          <p:nvPr/>
        </p:nvSpPr>
        <p:spPr>
          <a:xfrm>
            <a:off x="326315" y="56600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The hypothesis </a:t>
            </a:r>
            <a:r>
              <a:rPr lang="en-US" b="1" i="0" u="none" strike="noStrike" dirty="0">
                <a:solidFill>
                  <a:srgbClr val="1E6BB8"/>
                </a:solidFill>
                <a:effectLst/>
                <a:latin typeface="Open Sans" panose="020B0606030504020204" pitchFamily="34" charset="0"/>
                <a:hlinkClick r:id="rId4"/>
              </a:rPr>
              <a:t>the paper</a:t>
            </a:r>
            <a:r>
              <a:rPr lang="en-US" b="1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 is testing is that FMRP and MOV10 associate and regulate the translation of a subset of RNAs.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6C2F7-A0DB-B9C9-BAC1-F4E01BD87D95}"/>
              </a:ext>
            </a:extLst>
          </p:cNvPr>
          <p:cNvSpPr txBox="1"/>
          <p:nvPr/>
        </p:nvSpPr>
        <p:spPr>
          <a:xfrm>
            <a:off x="6589059" y="6169709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nichd-bspc.github.io</a:t>
            </a:r>
            <a:r>
              <a:rPr lang="en-US" dirty="0"/>
              <a:t>/intro-</a:t>
            </a:r>
            <a:r>
              <a:rPr lang="en-US" dirty="0" err="1"/>
              <a:t>rnaseq</a:t>
            </a:r>
            <a:r>
              <a:rPr lang="en-US" dirty="0"/>
              <a:t>-</a:t>
            </a:r>
            <a:r>
              <a:rPr lang="en-US" dirty="0" err="1"/>
              <a:t>hpc</a:t>
            </a:r>
            <a:r>
              <a:rPr lang="en-US" dirty="0"/>
              <a:t>/lessons/wk6_lesson01_dge_setup_overview.html</a:t>
            </a:r>
          </a:p>
        </p:txBody>
      </p:sp>
    </p:spTree>
    <p:extLst>
      <p:ext uri="{BB962C8B-B14F-4D97-AF65-F5344CB8AC3E}">
        <p14:creationId xmlns:p14="http://schemas.microsoft.com/office/powerpoint/2010/main" val="360458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F493-E9CD-6AD0-EF78-39A88267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3F63-7A6A-88CD-EFD5-3E73760F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89" y="0"/>
            <a:ext cx="10515600" cy="1325563"/>
          </a:xfrm>
        </p:spPr>
        <p:txBody>
          <a:bodyPr/>
          <a:lstStyle/>
          <a:p>
            <a:r>
              <a:rPr lang="en-US" dirty="0"/>
              <a:t>What is our example experimental design?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A54413-DB96-835C-A5F2-52EE3D64D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166" y="1107353"/>
            <a:ext cx="7724104" cy="405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7AF52F-458F-7978-CAFD-6D6DF98AD2D4}"/>
              </a:ext>
            </a:extLst>
          </p:cNvPr>
          <p:cNvSpPr txBox="1"/>
          <p:nvPr/>
        </p:nvSpPr>
        <p:spPr>
          <a:xfrm>
            <a:off x="1183341" y="5585483"/>
            <a:ext cx="10434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06C71"/>
                </a:solidFill>
                <a:effectLst/>
                <a:latin typeface="Open Sans" panose="020B0606030504020204" pitchFamily="34" charset="0"/>
              </a:rPr>
              <a:t>The RNA-Seq was performed on HEK293F cells that were either transfected with a MOV10 transgene, or siRNA to knock down Mov10 expression, or non-specific (irrelevant) siRNA.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8AD46-1F76-C3FC-30E9-D4756EDFBE49}"/>
              </a:ext>
            </a:extLst>
          </p:cNvPr>
          <p:cNvSpPr txBox="1"/>
          <p:nvPr/>
        </p:nvSpPr>
        <p:spPr>
          <a:xfrm>
            <a:off x="6695477" y="6273288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nichd-bspc.github.io</a:t>
            </a:r>
            <a:r>
              <a:rPr lang="en-US" dirty="0"/>
              <a:t>/intro-</a:t>
            </a:r>
            <a:r>
              <a:rPr lang="en-US" dirty="0" err="1"/>
              <a:t>rnaseq</a:t>
            </a:r>
            <a:r>
              <a:rPr lang="en-US" dirty="0"/>
              <a:t>-</a:t>
            </a:r>
            <a:r>
              <a:rPr lang="en-US" dirty="0" err="1"/>
              <a:t>hpc</a:t>
            </a:r>
            <a:r>
              <a:rPr lang="en-US" dirty="0"/>
              <a:t>/lessons/wk6_lesson01_dge_setup_overview.html</a:t>
            </a:r>
          </a:p>
        </p:txBody>
      </p:sp>
    </p:spTree>
    <p:extLst>
      <p:ext uri="{BB962C8B-B14F-4D97-AF65-F5344CB8AC3E}">
        <p14:creationId xmlns:p14="http://schemas.microsoft.com/office/powerpoint/2010/main" val="150344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F23E-680A-B84A-1802-249F45F7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8" y="-165516"/>
            <a:ext cx="10515600" cy="1325563"/>
          </a:xfrm>
        </p:spPr>
        <p:txBody>
          <a:bodyPr/>
          <a:lstStyle/>
          <a:p>
            <a:r>
              <a:rPr lang="en-US" dirty="0"/>
              <a:t>It is never just as simple as our design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ECA3500-5D0B-C599-3A91-BC5D89B5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69" y="1103553"/>
            <a:ext cx="9779552" cy="54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7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44AF-1A9A-F289-7114-22808A7A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A4C3-4A3D-8154-C6BA-03B07C80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35" y="44768"/>
            <a:ext cx="11952642" cy="1325563"/>
          </a:xfrm>
        </p:spPr>
        <p:txBody>
          <a:bodyPr/>
          <a:lstStyle/>
          <a:p>
            <a:r>
              <a:rPr lang="en-US" dirty="0"/>
              <a:t>DESeq2 pipeline takes a lot of this into account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896490F-7C7A-55CE-9C19-2324C0BEA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5"/>
          <a:stretch/>
        </p:blipFill>
        <p:spPr bwMode="auto">
          <a:xfrm>
            <a:off x="3398190" y="1550839"/>
            <a:ext cx="5997698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2A0781-7326-4200-41B2-FC43E444E814}"/>
              </a:ext>
            </a:extLst>
          </p:cNvPr>
          <p:cNvSpPr/>
          <p:nvPr/>
        </p:nvSpPr>
        <p:spPr>
          <a:xfrm>
            <a:off x="3398190" y="2323652"/>
            <a:ext cx="2507758" cy="25495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98A3F-79C0-2672-DADF-6508BD4B729A}"/>
              </a:ext>
            </a:extLst>
          </p:cNvPr>
          <p:cNvSpPr txBox="1"/>
          <p:nvPr/>
        </p:nvSpPr>
        <p:spPr>
          <a:xfrm>
            <a:off x="6691257" y="6166901"/>
            <a:ext cx="6131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nichd-bspc.github.io</a:t>
            </a:r>
            <a:r>
              <a:rPr lang="en-US" dirty="0"/>
              <a:t>/intro-</a:t>
            </a:r>
            <a:r>
              <a:rPr lang="en-US" dirty="0" err="1"/>
              <a:t>rnaseq</a:t>
            </a:r>
            <a:r>
              <a:rPr lang="en-US" dirty="0"/>
              <a:t>-</a:t>
            </a:r>
            <a:r>
              <a:rPr lang="en-US" dirty="0" err="1"/>
              <a:t>hpc</a:t>
            </a:r>
            <a:r>
              <a:rPr lang="en-US" dirty="0"/>
              <a:t>/lessons/wk6_lesson01_dge_setup_overview.html</a:t>
            </a:r>
          </a:p>
        </p:txBody>
      </p:sp>
    </p:spTree>
    <p:extLst>
      <p:ext uri="{BB962C8B-B14F-4D97-AF65-F5344CB8AC3E}">
        <p14:creationId xmlns:p14="http://schemas.microsoft.com/office/powerpoint/2010/main" val="121788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27E7-1F52-AC2D-E07A-B1AB377C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9AE6B-ABD9-8BF9-3F76-9C4435F8B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Loading data into RStudio and DEseq2</a:t>
            </a:r>
          </a:p>
          <a:p>
            <a:r>
              <a:rPr lang="en-US" dirty="0"/>
              <a:t>Loading required packages for data viz and analysis</a:t>
            </a:r>
          </a:p>
          <a:p>
            <a:r>
              <a:rPr lang="en-US" dirty="0"/>
              <a:t>Understanding the underlying distribution of read counts</a:t>
            </a:r>
          </a:p>
          <a:p>
            <a:r>
              <a:rPr lang="en-US" dirty="0"/>
              <a:t>Normalization</a:t>
            </a:r>
          </a:p>
          <a:p>
            <a:r>
              <a:rPr lang="en-US" dirty="0"/>
              <a:t>If time: Sample-level QC with Principal components analysis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31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00B7-72E0-9F4F-8FBF-3AAC7DA0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67" y="3220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</a:t>
            </a:r>
            <a:br>
              <a:rPr lang="en-US" dirty="0"/>
            </a:br>
            <a:r>
              <a:rPr lang="en-US" sz="1800" dirty="0">
                <a:hlinkClick r:id="rId2"/>
              </a:rPr>
              <a:t>https://hbctraining.github.io/DGE_workshop_salmon/lessons/02_DGE_count_normalization.html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FD23-3A19-C346-BA15-468E0060C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6142" y="1825625"/>
            <a:ext cx="3997657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All genes in sample A appear to be 2x the expression of sample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only due to sample A being sequenced 2x deeper.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we will need to </a:t>
            </a:r>
            <a:r>
              <a:rPr lang="en-US" b="1" dirty="0"/>
              <a:t>normalize to depth</a:t>
            </a:r>
            <a:endParaRPr lang="en-US" b="1" dirty="0">
              <a:cs typeface="Calibri"/>
            </a:endParaRP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0CC97F-5779-3640-8445-46953020B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67" y="2011680"/>
            <a:ext cx="6255067" cy="329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29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D9E51-35F0-CB47-AE9D-28DB8BD5F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Within one sample, a single transcript of a long gene gives more reads than one transcript of a short gene. That’s because long transcripts get fragmented into many pieces, and we are counting pieces.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comparing </a:t>
            </a:r>
            <a:r>
              <a:rPr lang="en-US" b="1" i="1" dirty="0"/>
              <a:t>within</a:t>
            </a:r>
            <a:r>
              <a:rPr lang="en-US" b="1" dirty="0"/>
              <a:t> </a:t>
            </a:r>
            <a:r>
              <a:rPr lang="en-US" dirty="0"/>
              <a:t>a sample, we need to </a:t>
            </a:r>
            <a:r>
              <a:rPr lang="en-US" b="1" dirty="0"/>
              <a:t>normalize by gene length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comparing </a:t>
            </a:r>
            <a:r>
              <a:rPr lang="en-US" i="1" dirty="0"/>
              <a:t>across</a:t>
            </a:r>
            <a:r>
              <a:rPr lang="en-US" dirty="0"/>
              <a:t> samples, we assume gene lengths do not change due to condition. So we do not need length normalization.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78C9F9-E48C-EF41-98C2-5BCBBB1F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</a:t>
            </a:r>
            <a:br>
              <a:rPr lang="en-US" dirty="0"/>
            </a:br>
            <a:r>
              <a:rPr lang="en-US" sz="1800" dirty="0">
                <a:hlinkClick r:id="rId2"/>
              </a:rPr>
              <a:t>https://hbctraining.github.io/DGE_workshop_salmon/lessons/02_DGE_count_normalization.html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C77364-6C99-6F42-B482-AE63B1F69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03" y="1855526"/>
            <a:ext cx="4632632" cy="359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64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D9E51-35F0-CB47-AE9D-28DB8BD5F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bears repeating: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typical DE analysis, </a:t>
            </a:r>
            <a:r>
              <a:rPr lang="en-US" b="1" dirty="0"/>
              <a:t>counts are not normalized to gene length </a:t>
            </a:r>
            <a:r>
              <a:rPr lang="en-US" dirty="0"/>
              <a:t>because we assume length does not change across our samples.</a:t>
            </a:r>
            <a:endParaRPr lang="en-US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78C9F9-E48C-EF41-98C2-5BCBBB1F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</a:t>
            </a:r>
            <a:br>
              <a:rPr lang="en-US" dirty="0"/>
            </a:br>
            <a:r>
              <a:rPr lang="en-US" sz="1800" dirty="0">
                <a:hlinkClick r:id="rId2"/>
              </a:rPr>
              <a:t>https://hbctraining.github.io/DGE_workshop_salmon/lessons/02_DGE_count_normalization.html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C77364-6C99-6F42-B482-AE63B1F69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49" y="1825625"/>
            <a:ext cx="4563228" cy="353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374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27917-3AC1-E34E-B613-6A1412310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257800" cy="4486275"/>
          </a:xfrm>
        </p:spPr>
        <p:txBody>
          <a:bodyPr/>
          <a:lstStyle/>
          <a:p>
            <a:r>
              <a:rPr lang="en-US" dirty="0"/>
              <a:t>A sequencer’s flow cell has a finite number of reads.</a:t>
            </a:r>
          </a:p>
          <a:p>
            <a:endParaRPr lang="en-US" dirty="0"/>
          </a:p>
          <a:p>
            <a:r>
              <a:rPr lang="en-US" dirty="0"/>
              <a:t>One highly-expressed gene “soaks up” the reads in sample B, causing other genes to look lower than they are.</a:t>
            </a:r>
          </a:p>
          <a:p>
            <a:endParaRPr lang="en-US" dirty="0"/>
          </a:p>
          <a:p>
            <a:r>
              <a:rPr lang="en-US" dirty="0"/>
              <a:t>This difference in </a:t>
            </a:r>
            <a:r>
              <a:rPr lang="en-US" i="1" dirty="0"/>
              <a:t>composition</a:t>
            </a:r>
            <a:r>
              <a:rPr lang="en-US" dirty="0"/>
              <a:t> needs to be taken into account.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1E45AE-1CE8-EC47-BDD1-7C57409B6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</a:t>
            </a:r>
            <a:br>
              <a:rPr lang="en-US" dirty="0"/>
            </a:br>
            <a:r>
              <a:rPr lang="en-US" sz="1800" dirty="0">
                <a:hlinkClick r:id="rId2"/>
              </a:rPr>
              <a:t>https://hbctraining.github.io/DGE_workshop_salmon/lessons/02_DGE_count_normalization.html</a:t>
            </a:r>
            <a:br>
              <a:rPr lang="en-US" dirty="0"/>
            </a:b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BDAAA1-5907-B641-8E88-A0817FD3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10" y="1404144"/>
            <a:ext cx="5080000" cy="519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93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5189-702E-214C-88D4-3D957DD4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why is everything on a log scale?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8580-D3C9-2D4E-BD26-21D5F5DE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RNA expression levels span 6 orders of magnitude (one transcript per cell to millions of transcripts in a cell) and distribution can be very skewed.</a:t>
            </a:r>
          </a:p>
          <a:p>
            <a:endParaRPr lang="en-US" dirty="0"/>
          </a:p>
          <a:p>
            <a:r>
              <a:rPr lang="en-US" dirty="0"/>
              <a:t>When expression increases, so does variance. This is a problem for statistical methods (heteroskedasticity)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Fold changes (the preferred method of quantifying differential expression) are not symmetric </a:t>
            </a:r>
            <a:r>
              <a:rPr lang="en-US"/>
              <a:t>around 0, </a:t>
            </a:r>
            <a:r>
              <a:rPr lang="en-US" dirty="0"/>
              <a:t>which is also a problem for statistical operations</a:t>
            </a:r>
          </a:p>
          <a:p>
            <a:endParaRPr lang="en-US" dirty="0"/>
          </a:p>
          <a:p>
            <a:r>
              <a:rPr lang="en-US" dirty="0"/>
              <a:t>Log-transformed data solves all of this</a:t>
            </a:r>
          </a:p>
        </p:txBody>
      </p:sp>
    </p:spTree>
    <p:extLst>
      <p:ext uri="{BB962C8B-B14F-4D97-AF65-F5344CB8AC3E}">
        <p14:creationId xmlns:p14="http://schemas.microsoft.com/office/powerpoint/2010/main" val="2904265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F92F-0BA6-28B7-A61B-12FAC13C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AC4E-DCEC-8188-30ED-3D879C58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Replicates vs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078E-94D7-641C-B6E7-FAAD8F84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 $2500, you get ~400M reads. How do you best allocate those reads?</a:t>
            </a:r>
          </a:p>
          <a:p>
            <a:endParaRPr lang="en-US" dirty="0"/>
          </a:p>
          <a:p>
            <a:r>
              <a:rPr lang="en-US" dirty="0"/>
              <a:t>Sequencing deeper:</a:t>
            </a:r>
          </a:p>
          <a:p>
            <a:pPr lvl="1"/>
            <a:r>
              <a:rPr lang="en-US" dirty="0"/>
              <a:t>catch low-expression genes</a:t>
            </a:r>
          </a:p>
          <a:p>
            <a:pPr lvl="1"/>
            <a:r>
              <a:rPr lang="en-US" dirty="0"/>
              <a:t>improve signal overall</a:t>
            </a:r>
          </a:p>
          <a:p>
            <a:pPr lvl="1"/>
            <a:endParaRPr lang="en-US" dirty="0"/>
          </a:p>
          <a:p>
            <a:r>
              <a:rPr lang="en-US" dirty="0"/>
              <a:t>More replicates:</a:t>
            </a:r>
          </a:p>
          <a:p>
            <a:pPr lvl="1"/>
            <a:r>
              <a:rPr lang="en-US" dirty="0"/>
              <a:t>improve statistical power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You can’t do both. Which strategy gives the most overall power (ability to detect truly differentially expressed genes)?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6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8A8D-6851-9AB2-5514-641421D39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ADA5-42E4-1303-5C30-E1D33479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3A107-37DC-4F6D-6B4D-C74DE8DF4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</p:spTree>
    <p:extLst>
      <p:ext uri="{BB962C8B-B14F-4D97-AF65-F5344CB8AC3E}">
        <p14:creationId xmlns:p14="http://schemas.microsoft.com/office/powerpoint/2010/main" val="3182987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A3F2-79BB-93FA-FB8C-215C9BAE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F74-2618-4DFC-A0D1-75E4E97A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066F8C-2547-79F6-C3A9-CFACAECF8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19C334-10E5-C9BA-2174-7FC376D4D52C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438876" y="4198132"/>
            <a:ext cx="376515" cy="6189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A455AAC-06F1-DBE4-01B8-680990CC7C6A}"/>
              </a:ext>
            </a:extLst>
          </p:cNvPr>
          <p:cNvSpPr/>
          <p:nvPr/>
        </p:nvSpPr>
        <p:spPr>
          <a:xfrm>
            <a:off x="5815391" y="4109421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53C27-5BDE-A87E-4606-3B53BCD21A83}"/>
              </a:ext>
            </a:extLst>
          </p:cNvPr>
          <p:cNvSpPr txBox="1"/>
          <p:nvPr/>
        </p:nvSpPr>
        <p:spPr>
          <a:xfrm>
            <a:off x="838200" y="3517750"/>
            <a:ext cx="2304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10M reads by adding 5M for each of the 2 replicates</a:t>
            </a:r>
          </a:p>
        </p:txBody>
      </p:sp>
    </p:spTree>
    <p:extLst>
      <p:ext uri="{BB962C8B-B14F-4D97-AF65-F5344CB8AC3E}">
        <p14:creationId xmlns:p14="http://schemas.microsoft.com/office/powerpoint/2010/main" val="103658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1FB6-DBB2-C01B-2296-48C36B9D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7857-FE27-9841-6D95-EDDAC54E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49290-9FD5-1DDB-DFFE-769E1AFC1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C4F9E-71A7-6E16-F1B9-15F331C0E3CC}"/>
              </a:ext>
            </a:extLst>
          </p:cNvPr>
          <p:cNvCxnSpPr/>
          <p:nvPr/>
        </p:nvCxnSpPr>
        <p:spPr>
          <a:xfrm flipV="1">
            <a:off x="5438876" y="3937299"/>
            <a:ext cx="0" cy="3227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E66E7C5-B626-FBE6-C1E5-74A680315A93}"/>
              </a:ext>
            </a:extLst>
          </p:cNvPr>
          <p:cNvSpPr/>
          <p:nvPr/>
        </p:nvSpPr>
        <p:spPr>
          <a:xfrm>
            <a:off x="5352812" y="3848669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F7D54-1A70-39FF-57B4-5F764A7A8AA7}"/>
              </a:ext>
            </a:extLst>
          </p:cNvPr>
          <p:cNvSpPr txBox="1"/>
          <p:nvPr/>
        </p:nvSpPr>
        <p:spPr>
          <a:xfrm>
            <a:off x="838200" y="3517750"/>
            <a:ext cx="229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10M reads by adding another 10M read sample</a:t>
            </a:r>
          </a:p>
        </p:txBody>
      </p:sp>
    </p:spTree>
    <p:extLst>
      <p:ext uri="{BB962C8B-B14F-4D97-AF65-F5344CB8AC3E}">
        <p14:creationId xmlns:p14="http://schemas.microsoft.com/office/powerpoint/2010/main" val="195733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8874-29AC-37F5-F4D0-F88F4EE8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05EF-62FD-C651-E14D-405095D8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97AE96-E612-C022-1FD9-9D6C8C292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E19A59-8E60-E678-E1B4-0EED6759C1E3}"/>
              </a:ext>
            </a:extLst>
          </p:cNvPr>
          <p:cNvCxnSpPr/>
          <p:nvPr/>
        </p:nvCxnSpPr>
        <p:spPr>
          <a:xfrm flipV="1">
            <a:off x="5438876" y="3937299"/>
            <a:ext cx="0" cy="3227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7A5CAF4-E923-230E-E255-539B13A10744}"/>
              </a:ext>
            </a:extLst>
          </p:cNvPr>
          <p:cNvSpPr/>
          <p:nvPr/>
        </p:nvSpPr>
        <p:spPr>
          <a:xfrm>
            <a:off x="5352812" y="3848669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57193-797E-740A-73D3-05F471A731C4}"/>
              </a:ext>
            </a:extLst>
          </p:cNvPr>
          <p:cNvSpPr txBox="1"/>
          <p:nvPr/>
        </p:nvSpPr>
        <p:spPr>
          <a:xfrm>
            <a:off x="655320" y="2764714"/>
            <a:ext cx="27209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Another sample increases power by 700 DE genes.</a:t>
            </a:r>
          </a:p>
          <a:p>
            <a:endParaRPr lang="en-US" dirty="0"/>
          </a:p>
          <a:p>
            <a:r>
              <a:rPr lang="en-US" dirty="0"/>
              <a:t>More depth only increases by 50 DE genes.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B4737F-1376-10CC-7E8B-66428821908E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438876" y="4198132"/>
            <a:ext cx="376515" cy="6189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BAD1971-2DBC-B86A-0421-0A9DE661498D}"/>
              </a:ext>
            </a:extLst>
          </p:cNvPr>
          <p:cNvSpPr/>
          <p:nvPr/>
        </p:nvSpPr>
        <p:spPr>
          <a:xfrm>
            <a:off x="5815391" y="4109421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9332B2-9034-0DC6-E1F5-2ED04AC3A11C}"/>
              </a:ext>
            </a:extLst>
          </p:cNvPr>
          <p:cNvSpPr/>
          <p:nvPr/>
        </p:nvSpPr>
        <p:spPr>
          <a:xfrm>
            <a:off x="409660" y="2987815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17204-4110-654E-BDA5-58BD19A3740F}"/>
              </a:ext>
            </a:extLst>
          </p:cNvPr>
          <p:cNvSpPr/>
          <p:nvPr/>
        </p:nvSpPr>
        <p:spPr>
          <a:xfrm>
            <a:off x="445791" y="3823873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2383-24D3-AEF8-C04E-B0272AB8D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45392-52A5-E78C-0A3C-E77FD0E87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0868" y="1825625"/>
            <a:ext cx="4790264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C3F906-895C-5AFB-641C-D4849427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AD295-408A-BD03-3909-0F99CB2B2A57}"/>
              </a:ext>
            </a:extLst>
          </p:cNvPr>
          <p:cNvSpPr txBox="1"/>
          <p:nvPr/>
        </p:nvSpPr>
        <p:spPr>
          <a:xfrm>
            <a:off x="838200" y="3105834"/>
            <a:ext cx="27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 detection does not saturate!</a:t>
            </a:r>
          </a:p>
        </p:txBody>
      </p:sp>
    </p:spTree>
    <p:extLst>
      <p:ext uri="{BB962C8B-B14F-4D97-AF65-F5344CB8AC3E}">
        <p14:creationId xmlns:p14="http://schemas.microsoft.com/office/powerpoint/2010/main" val="1287990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84BB-572B-0647-BE57-2957E892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similarity (PCA plots)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8824E-2052-4440-B280-54965FB15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Principal Components Analysis (PCA) is a dimension reduction technique used in machine learning and any time you need to summarize multi-dimensional data</a:t>
            </a:r>
          </a:p>
          <a:p>
            <a:endParaRPr lang="en-US" dirty="0"/>
          </a:p>
          <a:p>
            <a:r>
              <a:rPr lang="en-US" dirty="0"/>
              <a:t>No time for math today, will focus on visual aspect</a:t>
            </a:r>
          </a:p>
          <a:p>
            <a:endParaRPr lang="en-US" dirty="0"/>
          </a:p>
          <a:p>
            <a:r>
              <a:rPr lang="en-US" dirty="0"/>
              <a:t>PCA worked</a:t>
            </a:r>
            <a:r>
              <a:rPr lang="en-US" baseline="0" dirty="0"/>
              <a:t> example:</a:t>
            </a:r>
            <a:br>
              <a:rPr lang="en-US" baseline="0" dirty="0"/>
            </a:br>
            <a:r>
              <a:rPr lang="en-US" baseline="0" dirty="0">
                <a:hlinkClick r:id="rId3"/>
              </a:rPr>
              <a:t>https://hbctraining.github.io/DGE_workshop_salmon/lessons/03_DGE_QC_analysis.html</a:t>
            </a:r>
            <a:endParaRPr lang="en-US" baseline="0" dirty="0"/>
          </a:p>
          <a:p>
            <a:endParaRPr lang="en-US" dirty="0"/>
          </a:p>
          <a:p>
            <a:r>
              <a:rPr lang="en-US" dirty="0" err="1"/>
              <a:t>StatQuest</a:t>
            </a:r>
            <a:r>
              <a:rPr lang="en-US" dirty="0"/>
              <a:t> video:</a:t>
            </a:r>
            <a:br>
              <a:rPr lang="en-US" dirty="0"/>
            </a:br>
            <a:r>
              <a:rPr lang="en-US" dirty="0">
                <a:hlinkClick r:id="rId4"/>
              </a:rPr>
              <a:t>https://www.youtube.com/watch?v=_UVHneBUBW0</a:t>
            </a:r>
            <a:endParaRPr lang="en-US" dirty="0"/>
          </a:p>
          <a:p>
            <a:endParaRPr lang="en-US" baseline="0" dirty="0"/>
          </a:p>
          <a:p>
            <a:pPr marL="0" indent="0">
              <a:buNone/>
            </a:pP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474592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312D-26FF-DB45-9C07-2F4A7A1C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Two-condition PCA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B6AD2-0D67-964C-81C3-208B1681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963" y="1909052"/>
            <a:ext cx="6587321" cy="4705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22A61C-F607-5C42-8F19-B68C06509D96}"/>
              </a:ext>
            </a:extLst>
          </p:cNvPr>
          <p:cNvSpPr txBox="1"/>
          <p:nvPr/>
        </p:nvSpPr>
        <p:spPr>
          <a:xfrm>
            <a:off x="8444754" y="3861995"/>
            <a:ext cx="33025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separation of conditions</a:t>
            </a:r>
          </a:p>
          <a:p>
            <a:r>
              <a:rPr lang="en-US" dirty="0"/>
              <a:t>Which PC corresponds to the difference between our sample groups?</a:t>
            </a:r>
          </a:p>
          <a:p>
            <a:endParaRPr lang="en-US" dirty="0"/>
          </a:p>
          <a:p>
            <a:r>
              <a:rPr lang="en-US" dirty="0"/>
              <a:t>PC1:</a:t>
            </a:r>
          </a:p>
          <a:p>
            <a:r>
              <a:rPr lang="en-US" dirty="0"/>
              <a:t>PC2: </a:t>
            </a:r>
          </a:p>
        </p:txBody>
      </p:sp>
    </p:spTree>
    <p:extLst>
      <p:ext uri="{BB962C8B-B14F-4D97-AF65-F5344CB8AC3E}">
        <p14:creationId xmlns:p14="http://schemas.microsoft.com/office/powerpoint/2010/main" val="3250812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312D-26FF-DB45-9C07-2F4A7A1C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Two-condition PCA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B6AD2-0D67-964C-81C3-208B16819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963" y="1909052"/>
            <a:ext cx="6587321" cy="4705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22A61C-F607-5C42-8F19-B68C06509D96}"/>
              </a:ext>
            </a:extLst>
          </p:cNvPr>
          <p:cNvSpPr txBox="1"/>
          <p:nvPr/>
        </p:nvSpPr>
        <p:spPr>
          <a:xfrm>
            <a:off x="8444754" y="3861995"/>
            <a:ext cx="3302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separation of conditions</a:t>
            </a:r>
          </a:p>
          <a:p>
            <a:r>
              <a:rPr lang="en-US" dirty="0"/>
              <a:t>(here different, </a:t>
            </a:r>
            <a:r>
              <a:rPr lang="en-US" i="1" dirty="0"/>
              <a:t>Borrelia </a:t>
            </a:r>
            <a:r>
              <a:rPr lang="en-US" dirty="0"/>
              <a:t>temperatures) </a:t>
            </a:r>
          </a:p>
          <a:p>
            <a:endParaRPr lang="en-US" dirty="0"/>
          </a:p>
          <a:p>
            <a:r>
              <a:rPr lang="en-US" dirty="0"/>
              <a:t>PC1: temperature effect</a:t>
            </a:r>
          </a:p>
          <a:p>
            <a:r>
              <a:rPr lang="en-US" dirty="0"/>
              <a:t>PC2: ?</a:t>
            </a:r>
          </a:p>
        </p:txBody>
      </p:sp>
    </p:spTree>
    <p:extLst>
      <p:ext uri="{BB962C8B-B14F-4D97-AF65-F5344CB8AC3E}">
        <p14:creationId xmlns:p14="http://schemas.microsoft.com/office/powerpoint/2010/main" val="3305375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53C9F-88B3-2545-A44B-89304DF8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Three-condition PCA plot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27A6354-2296-D448-998A-49DEDAF95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3" b="17369"/>
          <a:stretch/>
        </p:blipFill>
        <p:spPr bwMode="auto">
          <a:xfrm>
            <a:off x="460010" y="2175291"/>
            <a:ext cx="8534400" cy="399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3EA1D8-2B5F-7148-B862-8887AC91FBB0}"/>
              </a:ext>
            </a:extLst>
          </p:cNvPr>
          <p:cNvSpPr txBox="1"/>
          <p:nvPr/>
        </p:nvSpPr>
        <p:spPr>
          <a:xfrm>
            <a:off x="8778241" y="1518566"/>
            <a:ext cx="27001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might hypothesize that the het is more similar to WT than it is to the mutant (PC1)</a:t>
            </a:r>
          </a:p>
          <a:p>
            <a:endParaRPr lang="en-US" dirty="0"/>
          </a:p>
          <a:p>
            <a:r>
              <a:rPr lang="en-US" dirty="0"/>
              <a:t>But it’s flipped when we look at PC2, likely due to different genes than those separating the mutant from WT</a:t>
            </a:r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 err="1"/>
              <a:t>StatQuest</a:t>
            </a:r>
            <a:r>
              <a:rPr lang="en-US" dirty="0"/>
              <a:t> video for context and help thinking about this:</a:t>
            </a:r>
            <a:br>
              <a:rPr lang="en-US" dirty="0"/>
            </a:br>
            <a:r>
              <a:rPr lang="en-US" dirty="0">
                <a:hlinkClick r:id="rId3"/>
              </a:rPr>
              <a:t>https://www.youtube.com/watch?v=_UVHneBUBW0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27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4D511-A3CF-0649-8EBD-0A12EA3D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it gets crazy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7F0B8-C035-5C48-9FC2-450BF9BF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4182"/>
            <a:ext cx="426720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CFF7E0-C8FC-0A45-889B-7ACDBA421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60" y="2014182"/>
            <a:ext cx="4267200" cy="304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65E54C-E1B3-2F4B-BCB1-9B7814F9E027}"/>
              </a:ext>
            </a:extLst>
          </p:cNvPr>
          <p:cNvSpPr/>
          <p:nvPr/>
        </p:nvSpPr>
        <p:spPr>
          <a:xfrm>
            <a:off x="2374714" y="5793896"/>
            <a:ext cx="646747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Same plots, colored by different metadata (genotype or treatment)</a:t>
            </a:r>
          </a:p>
          <a:p>
            <a:endParaRPr lang="en-US" dirty="0"/>
          </a:p>
          <a:p>
            <a:r>
              <a:rPr lang="en-US" dirty="0"/>
              <a:t>Complicated experiment, hard to interpret PC1 and PC2</a:t>
            </a:r>
          </a:p>
        </p:txBody>
      </p:sp>
    </p:spTree>
    <p:extLst>
      <p:ext uri="{BB962C8B-B14F-4D97-AF65-F5344CB8AC3E}">
        <p14:creationId xmlns:p14="http://schemas.microsoft.com/office/powerpoint/2010/main" val="3058231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B37D-9DB3-2C4A-AA87-7276C93B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Replicates vs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B60C-2CA8-FE4D-8791-B686FB4E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 $2500, you get ~400M reads. How do you best allocate those reads?</a:t>
            </a:r>
          </a:p>
          <a:p>
            <a:endParaRPr lang="en-US" dirty="0"/>
          </a:p>
          <a:p>
            <a:r>
              <a:rPr lang="en-US" dirty="0"/>
              <a:t>Sequencing deeper:</a:t>
            </a:r>
          </a:p>
          <a:p>
            <a:pPr lvl="1"/>
            <a:r>
              <a:rPr lang="en-US" dirty="0"/>
              <a:t>catch low-expression genes</a:t>
            </a:r>
          </a:p>
          <a:p>
            <a:pPr lvl="1"/>
            <a:r>
              <a:rPr lang="en-US" dirty="0"/>
              <a:t>improve signal overall</a:t>
            </a:r>
          </a:p>
          <a:p>
            <a:pPr lvl="1"/>
            <a:endParaRPr lang="en-US" dirty="0"/>
          </a:p>
          <a:p>
            <a:r>
              <a:rPr lang="en-US" dirty="0"/>
              <a:t>More replicates:</a:t>
            </a:r>
          </a:p>
          <a:p>
            <a:pPr lvl="1"/>
            <a:r>
              <a:rPr lang="en-US" dirty="0"/>
              <a:t>improve statistical power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You can’t do both. Which strategy gives the most overall power (ability to detect truly differentially expressed genes)?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333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3DB4-E8CF-9845-A98A-292EB378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8B4DD-33A4-0E45-916C-645BFFE8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</p:spTree>
    <p:extLst>
      <p:ext uri="{BB962C8B-B14F-4D97-AF65-F5344CB8AC3E}">
        <p14:creationId xmlns:p14="http://schemas.microsoft.com/office/powerpoint/2010/main" val="528936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3DB4-E8CF-9845-A98A-292EB378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8B4DD-33A4-0E45-916C-645BFFE8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F60747-6826-6E42-8982-5C0D9BF6D344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438876" y="4198132"/>
            <a:ext cx="376515" cy="6189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210DBFA-7160-3C40-B679-EA7970E3A874}"/>
              </a:ext>
            </a:extLst>
          </p:cNvPr>
          <p:cNvSpPr/>
          <p:nvPr/>
        </p:nvSpPr>
        <p:spPr>
          <a:xfrm>
            <a:off x="5815391" y="4109421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FE8AD-E5D6-4145-B5FF-B2DFC4AFC9E1}"/>
              </a:ext>
            </a:extLst>
          </p:cNvPr>
          <p:cNvSpPr txBox="1"/>
          <p:nvPr/>
        </p:nvSpPr>
        <p:spPr>
          <a:xfrm>
            <a:off x="838200" y="3517750"/>
            <a:ext cx="2304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10M reads by adding 5M for each of the 2 replicates</a:t>
            </a:r>
          </a:p>
        </p:txBody>
      </p:sp>
    </p:spTree>
    <p:extLst>
      <p:ext uri="{BB962C8B-B14F-4D97-AF65-F5344CB8AC3E}">
        <p14:creationId xmlns:p14="http://schemas.microsoft.com/office/powerpoint/2010/main" val="474877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3DB4-E8CF-9845-A98A-292EB378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8B4DD-33A4-0E45-916C-645BFFE8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F60747-6826-6E42-8982-5C0D9BF6D344}"/>
              </a:ext>
            </a:extLst>
          </p:cNvPr>
          <p:cNvCxnSpPr/>
          <p:nvPr/>
        </p:nvCxnSpPr>
        <p:spPr>
          <a:xfrm flipV="1">
            <a:off x="5438876" y="3937299"/>
            <a:ext cx="0" cy="3227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210DBFA-7160-3C40-B679-EA7970E3A874}"/>
              </a:ext>
            </a:extLst>
          </p:cNvPr>
          <p:cNvSpPr/>
          <p:nvPr/>
        </p:nvSpPr>
        <p:spPr>
          <a:xfrm>
            <a:off x="5352812" y="3848669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FE8AD-E5D6-4145-B5FF-B2DFC4AFC9E1}"/>
              </a:ext>
            </a:extLst>
          </p:cNvPr>
          <p:cNvSpPr txBox="1"/>
          <p:nvPr/>
        </p:nvSpPr>
        <p:spPr>
          <a:xfrm>
            <a:off x="838200" y="3517750"/>
            <a:ext cx="229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10M reads by adding another 10M read sample</a:t>
            </a:r>
          </a:p>
        </p:txBody>
      </p:sp>
    </p:spTree>
    <p:extLst>
      <p:ext uri="{BB962C8B-B14F-4D97-AF65-F5344CB8AC3E}">
        <p14:creationId xmlns:p14="http://schemas.microsoft.com/office/powerpoint/2010/main" val="2371505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03DB4-E8CF-9845-A98A-292EB378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38B4DD-33A4-0E45-916C-645BFFE8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0008" y="1825625"/>
            <a:ext cx="5111983" cy="4351338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F60747-6826-6E42-8982-5C0D9BF6D344}"/>
              </a:ext>
            </a:extLst>
          </p:cNvPr>
          <p:cNvCxnSpPr/>
          <p:nvPr/>
        </p:nvCxnSpPr>
        <p:spPr>
          <a:xfrm flipV="1">
            <a:off x="5438876" y="3937299"/>
            <a:ext cx="0" cy="3227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210DBFA-7160-3C40-B679-EA7970E3A874}"/>
              </a:ext>
            </a:extLst>
          </p:cNvPr>
          <p:cNvSpPr/>
          <p:nvPr/>
        </p:nvSpPr>
        <p:spPr>
          <a:xfrm>
            <a:off x="5352812" y="3848669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9FE8AD-E5D6-4145-B5FF-B2DFC4AFC9E1}"/>
              </a:ext>
            </a:extLst>
          </p:cNvPr>
          <p:cNvSpPr txBox="1"/>
          <p:nvPr/>
        </p:nvSpPr>
        <p:spPr>
          <a:xfrm>
            <a:off x="655320" y="2764714"/>
            <a:ext cx="27209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Another sample increases power by 700 DE genes.</a:t>
            </a:r>
          </a:p>
          <a:p>
            <a:endParaRPr lang="en-US" dirty="0"/>
          </a:p>
          <a:p>
            <a:r>
              <a:rPr lang="en-US" dirty="0"/>
              <a:t>More depth only increases by 50 DE genes.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462B6B-7BBC-BB48-9B7D-F42FB861CFFA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5438876" y="4198132"/>
            <a:ext cx="376515" cy="6189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02DAEC5-A927-A548-87C6-B4742BCD3B13}"/>
              </a:ext>
            </a:extLst>
          </p:cNvPr>
          <p:cNvSpPr/>
          <p:nvPr/>
        </p:nvSpPr>
        <p:spPr>
          <a:xfrm>
            <a:off x="5815391" y="4109421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FBDF97-B363-2E43-8C0D-4BCD3747AA5E}"/>
              </a:ext>
            </a:extLst>
          </p:cNvPr>
          <p:cNvSpPr/>
          <p:nvPr/>
        </p:nvSpPr>
        <p:spPr>
          <a:xfrm>
            <a:off x="409660" y="2987815"/>
            <a:ext cx="163773" cy="17742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70F6AE-8143-CA48-BCF9-192E31D77482}"/>
              </a:ext>
            </a:extLst>
          </p:cNvPr>
          <p:cNvSpPr/>
          <p:nvPr/>
        </p:nvSpPr>
        <p:spPr>
          <a:xfrm>
            <a:off x="445791" y="3823873"/>
            <a:ext cx="163773" cy="17742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95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64E400-7E80-1445-89BE-B5E1E2964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0868" y="1825625"/>
            <a:ext cx="4790264" cy="4351338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DB8072A-83A7-7242-B5E9-8CB48A84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Always use more samples, not more depth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619EA-077A-FB4C-85E7-0ABD353377CD}"/>
              </a:ext>
            </a:extLst>
          </p:cNvPr>
          <p:cNvSpPr txBox="1"/>
          <p:nvPr/>
        </p:nvSpPr>
        <p:spPr>
          <a:xfrm>
            <a:off x="838200" y="3105834"/>
            <a:ext cx="2720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 detection does not saturate!</a:t>
            </a:r>
          </a:p>
        </p:txBody>
      </p:sp>
    </p:spTree>
    <p:extLst>
      <p:ext uri="{BB962C8B-B14F-4D97-AF65-F5344CB8AC3E}">
        <p14:creationId xmlns:p14="http://schemas.microsoft.com/office/powerpoint/2010/main" val="760104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0BA7-6EF5-6A42-8274-208623982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are skipping how DESeq2 works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24338D-F8B9-9941-9C73-D0BBBE4896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5"/>
          <a:stretch/>
        </p:blipFill>
        <p:spPr bwMode="auto">
          <a:xfrm>
            <a:off x="3548797" y="1690688"/>
            <a:ext cx="5997698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26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E8E8DFAE0B34F80F1CD75B77D6260" ma:contentTypeVersion="4" ma:contentTypeDescription="Create a new document." ma:contentTypeScope="" ma:versionID="35bb30a279d979515c930ca829ede7d8">
  <xsd:schema xmlns:xsd="http://www.w3.org/2001/XMLSchema" xmlns:xs="http://www.w3.org/2001/XMLSchema" xmlns:p="http://schemas.microsoft.com/office/2006/metadata/properties" xmlns:ns2="c7cc936d-3c10-447c-ab51-9b3afe1ae4cc" targetNamespace="http://schemas.microsoft.com/office/2006/metadata/properties" ma:root="true" ma:fieldsID="bfbc9665ba89c683eeef3320b8250cbb" ns2:_="">
    <xsd:import namespace="c7cc936d-3c10-447c-ab51-9b3afe1ae4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c936d-3c10-447c-ab51-9b3afe1ae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CD4AF9-3708-449E-BA39-46EF68C2AC8B}"/>
</file>

<file path=customXml/itemProps2.xml><?xml version="1.0" encoding="utf-8"?>
<ds:datastoreItem xmlns:ds="http://schemas.openxmlformats.org/officeDocument/2006/customXml" ds:itemID="{6C8A40B9-EC09-463A-A1ED-074354837E57}"/>
</file>

<file path=customXml/itemProps3.xml><?xml version="1.0" encoding="utf-8"?>
<ds:datastoreItem xmlns:ds="http://schemas.openxmlformats.org/officeDocument/2006/customXml" ds:itemID="{17C49403-9071-4B8C-800C-7487E2DD998A}"/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1203</Words>
  <Application>Microsoft Macintosh PowerPoint</Application>
  <PresentationFormat>Widescreen</PresentationFormat>
  <Paragraphs>129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Open Sans</vt:lpstr>
      <vt:lpstr>Office Theme</vt:lpstr>
      <vt:lpstr>Week 6</vt:lpstr>
      <vt:lpstr>PowerPoint Presentation</vt:lpstr>
      <vt:lpstr>PowerPoint Presentation</vt:lpstr>
      <vt:lpstr>What is our example dataset testing? </vt:lpstr>
      <vt:lpstr>What is our example experimental design?</vt:lpstr>
      <vt:lpstr>It is never just as simple as our design</vt:lpstr>
      <vt:lpstr>DESeq2 pipeline takes a lot of this into account</vt:lpstr>
      <vt:lpstr>Today: </vt:lpstr>
      <vt:lpstr>Normalization https://hbctraining.github.io/DGE_workshop_salmon/lessons/02_DGE_count_normalization.html </vt:lpstr>
      <vt:lpstr>Normalization https://hbctraining.github.io/DGE_workshop_salmon/lessons/02_DGE_count_normalization.html </vt:lpstr>
      <vt:lpstr>Normalization https://hbctraining.github.io/DGE_workshop_salmon/lessons/02_DGE_count_normalization.html </vt:lpstr>
      <vt:lpstr>Normalization https://hbctraining.github.io/DGE_workshop_salmon/lessons/02_DGE_count_normalization.html </vt:lpstr>
      <vt:lpstr>Side note: why is everything on a log scale?</vt:lpstr>
      <vt:lpstr>Replicates vs depth</vt:lpstr>
      <vt:lpstr>Always use more samples, not more depth</vt:lpstr>
      <vt:lpstr>Always use more samples, not more depth</vt:lpstr>
      <vt:lpstr>Always use more samples, not more depth</vt:lpstr>
      <vt:lpstr>Always use more samples, not more depth</vt:lpstr>
      <vt:lpstr>Always use more samples, not more depth</vt:lpstr>
      <vt:lpstr>Sample similarity (PCA plots)</vt:lpstr>
      <vt:lpstr>Two-condition PCA plot</vt:lpstr>
      <vt:lpstr>Two-condition PCA plot</vt:lpstr>
      <vt:lpstr>Three-condition PCA plot</vt:lpstr>
      <vt:lpstr>Sometimes it gets crazy</vt:lpstr>
      <vt:lpstr>Replicates vs depth</vt:lpstr>
      <vt:lpstr>Always use more samples, not more depth</vt:lpstr>
      <vt:lpstr>Always use more samples, not more depth</vt:lpstr>
      <vt:lpstr>Always use more samples, not more depth</vt:lpstr>
      <vt:lpstr>Always use more samples, not more depth</vt:lpstr>
      <vt:lpstr>Always use more samples, not more depth</vt:lpstr>
      <vt:lpstr>We are skipping how DESeq2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Sally (NIH/NICHD) [C]</dc:creator>
  <cp:lastModifiedBy>Chang, Sally (NIH/NICHD) [C]</cp:lastModifiedBy>
  <cp:revision>4</cp:revision>
  <dcterms:created xsi:type="dcterms:W3CDTF">2025-03-03T21:13:02Z</dcterms:created>
  <dcterms:modified xsi:type="dcterms:W3CDTF">2025-03-04T14:32:24Z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0x010100731E8E8DFAE0B34F80F1CD75B77D6260</vt:lpwstr>
  </property>
</Properties>
</file>